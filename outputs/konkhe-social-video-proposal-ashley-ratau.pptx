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e315218380423f" /><Relationship Type="http://schemas.openxmlformats.org/officeDocument/2006/relationships/extended-properties" Target="/docProps/app.xml" Id="Rf35b0522bc4844ef" /><Relationship Type="http://schemas.openxmlformats.org/officeDocument/2006/relationships/officeDocument" Target="/ppt/presentation.xml" Id="R3abe4ec9f69243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71aad1153a4fb9"/>
  </p:sldMasterIdLst>
  <p:notesMasterIdLst>
    <p:notesMasterId xmlns:r="http://schemas.openxmlformats.org/officeDocument/2006/relationships" r:id="Raf923faabd5e413d"/>
  </p:notesMasterIdLst>
  <p:sldIdLst>
    <p:sldId xmlns:r="http://schemas.openxmlformats.org/officeDocument/2006/relationships" id="256" r:id="Ra495b0c4c2ef4b69"/>
    <p:sldId xmlns:r="http://schemas.openxmlformats.org/officeDocument/2006/relationships" id="257" r:id="R7c632b52de804087"/>
    <p:sldId xmlns:r="http://schemas.openxmlformats.org/officeDocument/2006/relationships" id="258" r:id="R753acdb34bd7458e"/>
    <p:sldId xmlns:r="http://schemas.openxmlformats.org/officeDocument/2006/relationships" id="259" r:id="Re4073746d8774424"/>
    <p:sldId xmlns:r="http://schemas.openxmlformats.org/officeDocument/2006/relationships" id="260" r:id="Ra69c7b72b6ba4443"/>
    <p:sldId xmlns:r="http://schemas.openxmlformats.org/officeDocument/2006/relationships" id="261" r:id="R86b334a442384429"/>
    <p:sldId xmlns:r="http://schemas.openxmlformats.org/officeDocument/2006/relationships" id="262" r:id="Rcbfd9aae3cbd4dab"/>
    <p:sldId xmlns:r="http://schemas.openxmlformats.org/officeDocument/2006/relationships" id="263" r:id="R26180c37179a46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68b1b29e074b60" /><Relationship Type="http://schemas.openxmlformats.org/officeDocument/2006/relationships/slideMaster" Target="/ppt/slideMasters/slideMaster1.xml" Id="R5d71aad1153a4fb9" /><Relationship Type="http://schemas.openxmlformats.org/officeDocument/2006/relationships/notesMaster" Target="/ppt/notesMasters/notesMaster1.xml" Id="Raf923faabd5e413d" /><Relationship Type="http://schemas.openxmlformats.org/officeDocument/2006/relationships/presProps" Target="/ppt/presProps.xml" Id="Rf37170376a2541b4" /><Relationship Type="http://schemas.openxmlformats.org/officeDocument/2006/relationships/tableStyles" Target="/ppt/tableStyles.xml" Id="R6a789918763546a7" /><Relationship Type="http://schemas.openxmlformats.org/officeDocument/2006/relationships/slide" Target="/ppt/slides/slide1.xml" Id="Ra495b0c4c2ef4b69" /><Relationship Type="http://schemas.openxmlformats.org/officeDocument/2006/relationships/slide" Target="/ppt/slides/slide2.xml" Id="R7c632b52de804087" /><Relationship Type="http://schemas.openxmlformats.org/officeDocument/2006/relationships/slide" Target="/ppt/slides/slide3.xml" Id="R753acdb34bd7458e" /><Relationship Type="http://schemas.openxmlformats.org/officeDocument/2006/relationships/slide" Target="/ppt/slides/slide4.xml" Id="Re4073746d8774424" /><Relationship Type="http://schemas.openxmlformats.org/officeDocument/2006/relationships/slide" Target="/ppt/slides/slide5.xml" Id="Ra69c7b72b6ba4443" /><Relationship Type="http://schemas.openxmlformats.org/officeDocument/2006/relationships/slide" Target="/ppt/slides/slide6.xml" Id="R86b334a442384429" /><Relationship Type="http://schemas.openxmlformats.org/officeDocument/2006/relationships/slide" Target="/ppt/slides/slide7.xml" Id="Rcbfd9aae3cbd4dab" /><Relationship Type="http://schemas.openxmlformats.org/officeDocument/2006/relationships/slide" Target="/ppt/slides/slide8.xml" Id="R26180c37179a46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af14e89a5945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f800287c1f4cdb" /><Relationship Type="http://schemas.openxmlformats.org/officeDocument/2006/relationships/notesMaster" Target="/ppt/notesMasters/notesMaster1.xml" Id="R824539d2976446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41418b559049ed" /><Relationship Type="http://schemas.openxmlformats.org/officeDocument/2006/relationships/notesMaster" Target="/ppt/notesMasters/notesMaster1.xml" Id="R6e259222254f4b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ce080ed64a4d78" /><Relationship Type="http://schemas.openxmlformats.org/officeDocument/2006/relationships/notesMaster" Target="/ppt/notesMasters/notesMaster1.xml" Id="Rea8a96bff3c243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0b29b74b4a4688" /><Relationship Type="http://schemas.openxmlformats.org/officeDocument/2006/relationships/notesMaster" Target="/ppt/notesMasters/notesMaster1.xml" Id="Rac19981b462e4a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a443d8c18740ee" /><Relationship Type="http://schemas.openxmlformats.org/officeDocument/2006/relationships/notesMaster" Target="/ppt/notesMasters/notesMaster1.xml" Id="R658d94ae608542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b2ea7f6a1f418f" /><Relationship Type="http://schemas.openxmlformats.org/officeDocument/2006/relationships/notesMaster" Target="/ppt/notesMasters/notesMaster1.xml" Id="Reea573cebbd048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ee10ac4ce649bd" /><Relationship Type="http://schemas.openxmlformats.org/officeDocument/2006/relationships/notesMaster" Target="/ppt/notesMasters/notesMaster1.xml" Id="R1da7e479781b49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7dd98f58fb46cd" /><Relationship Type="http://schemas.openxmlformats.org/officeDocument/2006/relationships/notesMaster" Target="/ppt/notesMasters/notesMaster1.xml" Id="R4885f03010e545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51d2fdae384d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99a48028b34468" /><Relationship Type="http://schemas.openxmlformats.org/officeDocument/2006/relationships/slideLayout" Target="/ppt/slideLayouts/slideLayout1.xml" Id="R204b766318be47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4b766318be47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1da01c9e24b45" /><Relationship Type="http://schemas.openxmlformats.org/officeDocument/2006/relationships/image" Target="/ppt/media/image.png" Id="R0146caf69e004e0c" /><Relationship Type="http://schemas.openxmlformats.org/officeDocument/2006/relationships/image" Target="/ppt/media/image2.png" Id="R7c2828b865244669" /><Relationship Type="http://schemas.openxmlformats.org/officeDocument/2006/relationships/notesSlide" Target="/ppt/notesSlides/notesSlide1.xml" Id="Rb7396df33c4840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aedf913bd48a2" /><Relationship Type="http://schemas.openxmlformats.org/officeDocument/2006/relationships/image" Target="/ppt/media/image.jpeg" Id="Rf1e160f6b3c54283" /><Relationship Type="http://schemas.openxmlformats.org/officeDocument/2006/relationships/image" Target="/ppt/media/image2.jpeg" Id="Ra5bd712999d54e02" /><Relationship Type="http://schemas.openxmlformats.org/officeDocument/2006/relationships/image" Target="/ppt/media/image3.jpeg" Id="Rb4f9071e77a54ebc" /><Relationship Type="http://schemas.openxmlformats.org/officeDocument/2006/relationships/image" Target="/ppt/media/image4.jpeg" Id="Rc1c59b8ef4f947a5" /><Relationship Type="http://schemas.openxmlformats.org/officeDocument/2006/relationships/notesSlide" Target="/ppt/notesSlides/notesSlide2.xml" Id="R8807c62de7ce4e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e6044e27547a7" /><Relationship Type="http://schemas.openxmlformats.org/officeDocument/2006/relationships/image" Target="/ppt/media/image5.jpeg" Id="Rbd022275c6a54353" /><Relationship Type="http://schemas.openxmlformats.org/officeDocument/2006/relationships/notesSlide" Target="/ppt/notesSlides/notesSlide3.xml" Id="Rc0095daf84934a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2944506784726" /><Relationship Type="http://schemas.openxmlformats.org/officeDocument/2006/relationships/image" Target="/ppt/media/image6.jpeg" Id="Rb77158dd5fc24f84" /><Relationship Type="http://schemas.openxmlformats.org/officeDocument/2006/relationships/notesSlide" Target="/ppt/notesSlides/notesSlide4.xml" Id="R05f88822e3a347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7109be7d74fd2" /><Relationship Type="http://schemas.openxmlformats.org/officeDocument/2006/relationships/image" Target="/ppt/media/image3.png" Id="R6fc0bdddd2ac4375" /><Relationship Type="http://schemas.openxmlformats.org/officeDocument/2006/relationships/image" Target="/ppt/media/image7.jpeg" Id="R23ebb203f0424de7" /><Relationship Type="http://schemas.openxmlformats.org/officeDocument/2006/relationships/image" Target="/ppt/media/image8.jpeg" Id="R4495d2f2b6a14c74" /><Relationship Type="http://schemas.openxmlformats.org/officeDocument/2006/relationships/notesSlide" Target="/ppt/notesSlides/notesSlide5.xml" Id="R45824a42f37645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713cb18f84bef" /><Relationship Type="http://schemas.openxmlformats.org/officeDocument/2006/relationships/notesSlide" Target="/ppt/notesSlides/notesSlide6.xml" Id="R6d96cd40c39143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ab5ef78d54878" /><Relationship Type="http://schemas.openxmlformats.org/officeDocument/2006/relationships/notesSlide" Target="/ppt/notesSlides/notesSlide7.xml" Id="R31d9b0cb1c0641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03921cc13447d" /><Relationship Type="http://schemas.openxmlformats.org/officeDocument/2006/relationships/notesSlide" Target="/ppt/notesSlides/notesSlide8.xml" Id="R9cce6833de374f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6caf69e004e0c"/>
          <a:srcRect xmlns:a="http://schemas.openxmlformats.org/drawingml/2006/main" l="30371" t="0" r="303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DAE16-E061-4A7B-922D-4DFDD14D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oundRect">
            <a:avLst>
              <a:gd name="adj" fmla="val 1791"/>
            </a:avLst>
          </a:prstGeom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828b865244669"/>
          <a:stretch xmlns:a="http://schemas.openxmlformats.org/drawingml/2006/main"/>
        </p:blipFill>
        <p:spPr>
          <a:xfrm xmlns:a="http://schemas.openxmlformats.org/drawingml/2006/main">
            <a:off x="685800" y="650875"/>
            <a:ext cx="1524000" cy="736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B956D-E100-428D-9000-3829A294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7F0E6"/>
                </a:solidFill>
              </a:defRPr>
            </a:pPr>
            <a:r>
              <a:rPr sz="4350" b="1" i="0">
                <a:solidFill>
                  <a:srgbClr val="F7F0E6"/>
                </a:solidFill>
              </a:rPr>
              <a:t>KONKHE IN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65E0F-8A65-4F96-B3EB-BA07EDEC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8C2A1"/>
                </a:solidFill>
              </a:defRPr>
            </a:pPr>
            <a:r>
              <a:rPr sz="1725" b="0" i="0">
                <a:solidFill>
                  <a:srgbClr val="D8C2A1"/>
                </a:solidFill>
              </a:rPr>
              <a:t>A short-form video proposal for</a:t>
            </a:r>
          </a:p>
          <a:p xmlns:a="http://schemas.openxmlformats.org/drawingml/2006/main">
            <a:pPr algn="l">
              <a:defRPr sz="1725" b="0" i="0">
                <a:solidFill>
                  <a:srgbClr val="D8C2A1"/>
                </a:solidFill>
              </a:defRPr>
            </a:pPr>
            <a:r>
              <a:rPr sz="1725" b="0" i="0">
                <a:solidFill>
                  <a:srgbClr val="D8C2A1"/>
                </a:solidFill>
              </a:rPr>
              <a:t>Instagram Reels, Facebook Reels</a:t>
            </a:r>
          </a:p>
          <a:p xmlns:a="http://schemas.openxmlformats.org/drawingml/2006/main">
            <a:pPr algn="l">
              <a:defRPr sz="1725" b="0" i="0">
                <a:solidFill>
                  <a:srgbClr val="D8C2A1"/>
                </a:solidFill>
              </a:defRPr>
            </a:pPr>
            <a:r>
              <a:rPr sz="1725" b="0" i="0">
                <a:solidFill>
                  <a:srgbClr val="D8C2A1"/>
                </a:solidFill>
              </a:rPr>
              <a:t>and TikTok Shorts.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96EB6-4807-4ABA-8323-6705A306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Prepared by Ashley Ratau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080A7-CB7D-46A4-8E88-F67906B5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FA69A"/>
                </a:solidFill>
              </a:defRPr>
            </a:pPr>
            <a:r>
              <a:rPr sz="1350" b="0" i="0">
                <a:solidFill>
                  <a:srgbClr val="AFA69A"/>
                </a:solidFill>
              </a:rPr>
              <a:t>For Konkhe Kuhamba Kahle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42EDD-C480-4DD4-9AC7-E51729E0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2800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9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1BF72-E3B4-4A9C-8CB8-8C693A67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57825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50505"/>
                </a:solidFill>
              </a:defRPr>
            </a:pPr>
            <a:r>
              <a:rPr sz="975" b="1" i="0">
                <a:solidFill>
                  <a:srgbClr val="050505"/>
                </a:solidFill>
              </a:rPr>
              <a:t>SOCIAL MEDIA VIDEO GROWTH</a:t>
            </a:r>
          </a:p>
        </p:txBody>
      </p:sp>
    </p:spTree>
    <p:extLst>
      <p:ext uri="{BB962C8B-B14F-4D97-AF65-F5344CB8AC3E}">
        <p14:creationId xmlns:p14="http://schemas.microsoft.com/office/powerpoint/2010/main" val="6428412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E7AABA-2639-4A50-9236-D3B9A54E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89B3C"/>
                </a:solidFill>
              </a:defRPr>
            </a:pPr>
            <a:r>
              <a:rPr sz="1050" b="1" i="0">
                <a:solidFill>
                  <a:srgbClr val="C89B3C"/>
                </a:solidFill>
              </a:rPr>
              <a:t>WHAT KONKHE ALREADY HAS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49DEE-3B67-4A14-BFE3-439706A1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7F0E6"/>
                </a:solidFill>
              </a:defRPr>
            </a:pPr>
            <a:r>
              <a:rPr sz="3600" b="1" i="0">
                <a:solidFill>
                  <a:srgbClr val="F7F0E6"/>
                </a:solidFill>
              </a:rPr>
              <a:t>A strong product catalogue that can become daily content.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EFE77-89F4-4DEB-B845-541B19CF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8C2A1"/>
                </a:solidFill>
              </a:defRPr>
            </a:pPr>
            <a:r>
              <a:rPr sz="1650" b="0" i="0">
                <a:solidFill>
                  <a:srgbClr val="D8C2A1"/>
                </a:solidFill>
              </a:rPr>
              <a:t>The website already gives us the foundation: clear product categories, strong imagery, an online shop and social channels.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160f6b3c542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66675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d712999d54e02"/>
          <a:srcRect xmlns:a="http://schemas.openxmlformats.org/drawingml/2006/main" l="10638" t="0" r="106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58375" y="1285875"/>
            <a:ext cx="1762125" cy="2238375"/>
          </a:xfrm>
          <a:prstGeom xmlns:a="http://schemas.openxmlformats.org/drawingml/2006/main" prst="roundRect">
            <a:avLst>
              <a:gd name="adj" fmla="val 6486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9071e77a54e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7125" y="3219450"/>
            <a:ext cx="2047875" cy="2047875"/>
          </a:xfrm>
          <a:prstGeom xmlns:a="http://schemas.openxmlformats.org/drawingml/2006/main" prst="roundRect">
            <a:avLst>
              <a:gd name="adj" fmla="val 5581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59b8ef4f947a5"/>
          <a:srcRect xmlns:a="http://schemas.openxmlformats.org/drawingml/2006/main" l="0" t="11905" r="0" b="119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0" y="3943350"/>
            <a:ext cx="2000250" cy="1524000"/>
          </a:xfrm>
          <a:prstGeom xmlns:a="http://schemas.openxmlformats.org/drawingml/2006/main" prst="roundRect">
            <a:avLst>
              <a:gd name="adj" fmla="val 75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E1903-54FB-4049-837C-BEE42AB8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28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1E86D-1B4E-43AB-8270-B2BB5E7F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24325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50505"/>
                </a:solidFill>
              </a:defRPr>
            </a:pPr>
            <a:r>
              <a:rPr sz="1500" b="1" i="0">
                <a:solidFill>
                  <a:srgbClr val="050505"/>
                </a:solidFill>
              </a:rPr>
              <a:t>The opportunity is not to replace images.</a:t>
            </a:r>
          </a:p>
          <a:p xmlns:a="http://schemas.openxmlformats.org/drawingml/2006/main">
            <a:pPr algn="l">
              <a:defRPr sz="1500" b="1" i="0">
                <a:solidFill>
                  <a:srgbClr val="050505"/>
                </a:solidFill>
              </a:defRPr>
            </a:pPr>
            <a:r>
              <a:rPr sz="1500" b="1" i="0">
                <a:solidFill>
                  <a:srgbClr val="050505"/>
                </a:solidFill>
              </a:rPr>
              <a:t>It is to make the existing images move, sell the detail,</a:t>
            </a:r>
          </a:p>
          <a:p xmlns:a="http://schemas.openxmlformats.org/drawingml/2006/main">
            <a:pPr algn="l">
              <a:defRPr sz="1500" b="1" i="0">
                <a:solidFill>
                  <a:srgbClr val="050505"/>
                </a:solidFill>
              </a:defRPr>
            </a:pPr>
            <a:r>
              <a:rPr sz="1500" b="1" i="0">
                <a:solidFill>
                  <a:srgbClr val="050505"/>
                </a:solidFill>
              </a:rPr>
              <a:t>and create more reasons for people to stop scrolling.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84EFC-BF63-41C4-BF35-58EB8C0F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9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FAAD6-AAF5-49FE-9B30-B90846B7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50505"/>
                </a:solidFill>
              </a:defRPr>
            </a:pPr>
            <a:r>
              <a:rPr sz="975" b="1" i="0">
                <a:solidFill>
                  <a:srgbClr val="050505"/>
                </a:solidFill>
              </a:rPr>
              <a:t>Golfers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21E2D-A871-4DC7-9E9D-0D6AA27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149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9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B13A2-6601-45D6-B62A-56C664C8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81625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50505"/>
                </a:solidFill>
              </a:defRPr>
            </a:pPr>
            <a:r>
              <a:rPr sz="975" b="1" i="0">
                <a:solidFill>
                  <a:srgbClr val="050505"/>
                </a:solidFill>
              </a:rPr>
              <a:t>Oversized T-Shirts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D2EA9-2E6D-48E9-A8A0-D3CB606F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149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9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FAA0E-163D-4985-83FB-09ECA0F2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3816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50505"/>
                </a:solidFill>
              </a:defRPr>
            </a:pPr>
            <a:r>
              <a:rPr sz="975" b="1" i="0">
                <a:solidFill>
                  <a:srgbClr val="050505"/>
                </a:solidFill>
              </a:rPr>
              <a:t>Sneakers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8E115-DD24-43B6-971B-17FEC1C2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3149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9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A2967-C2DE-405E-922D-FF489CDF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38162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50505"/>
                </a:solidFill>
              </a:defRPr>
            </a:pPr>
            <a:r>
              <a:rPr sz="975" b="1" i="0">
                <a:solidFill>
                  <a:srgbClr val="050505"/>
                </a:solidFill>
              </a:rPr>
              <a:t>New arrivals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EB30C-B5F1-4B8B-94A7-A54938F9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FA69A"/>
                </a:solidFill>
              </a:defRPr>
            </a:pPr>
            <a:r>
              <a:rPr sz="975" b="0" i="0">
                <a:solidFill>
                  <a:srgbClr val="AFA69A"/>
                </a:solidFill>
              </a:rPr>
              <a:t>Proposal by Ashley Ratau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4BE378-5393-43D2-B376-2EB3ADCC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FA69A"/>
                </a:solidFill>
              </a:defRPr>
            </a:pPr>
            <a:r>
              <a:rPr sz="975" b="1" i="0">
                <a:solidFill>
                  <a:srgbClr val="AFA69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14659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0D2CFD-7F19-4054-A10A-6743ABCC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3A1D"/>
                </a:solidFill>
              </a:defRPr>
            </a:pPr>
            <a:r>
              <a:rPr sz="1350" b="1" i="0">
                <a:solidFill>
                  <a:srgbClr val="5B3A1D"/>
                </a:solidFill>
              </a:rPr>
              <a:t>The shift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7A18D-3792-49D1-ACD0-E76CF251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50505"/>
                </a:solidFill>
              </a:defRPr>
            </a:pPr>
            <a:r>
              <a:rPr sz="3450" b="1" i="0">
                <a:solidFill>
                  <a:srgbClr val="050505"/>
                </a:solidFill>
              </a:rPr>
              <a:t>Images show the product. Short clips create the moment.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C6EA4-9183-44D7-B757-E8B8BF39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657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3A1D"/>
                </a:solidFill>
              </a:defRPr>
            </a:pPr>
            <a:r>
              <a:rPr sz="1650" b="0" i="0">
                <a:solidFill>
                  <a:srgbClr val="5B3A1D"/>
                </a:solidFill>
              </a:rPr>
              <a:t>Reels and TikTok reward quick, repeatable ideas: a detail shot, an outfit switch, a trending sound, a price reveal, a customer-style try-on, or a new drop teaser.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5A156-AA29-4FD6-97C0-B89AB05C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28650"/>
            <a:ext cx="2571750" cy="519112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73D0A-9E58-4D7D-96C4-2291D09D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914400"/>
            <a:ext cx="2152650" cy="4619625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7F0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22275c6a54353"/>
          <a:srcRect xmlns:a="http://schemas.openxmlformats.org/drawingml/2006/main" l="12403" t="0" r="124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1143000"/>
            <a:ext cx="1847850" cy="2457450"/>
          </a:xfrm>
          <a:prstGeom xmlns:a="http://schemas.openxmlformats.org/drawingml/2006/main" prst="roundRect">
            <a:avLst>
              <a:gd name="adj" fmla="val 41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F04F7-BFD5-4B78-BE05-C23B4093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10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50505"/>
                </a:solidFill>
              </a:defRPr>
            </a:pPr>
            <a:r>
              <a:rPr sz="2100" b="1" i="0">
                <a:solidFill>
                  <a:srgbClr val="050505"/>
                </a:solidFill>
              </a:rPr>
              <a:t>NEW DROP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DB8E4-E60F-4C9D-ACF4-2C8D433A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481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C89B3C"/>
                </a:solidFill>
              </a:defRPr>
            </a:pPr>
            <a:r>
              <a:rPr sz="1350" b="1" i="0">
                <a:solidFill>
                  <a:srgbClr val="C89B3C"/>
                </a:solidFill>
              </a:rPr>
              <a:t>Tap to shop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30FA2-8D37-4657-8CF9-9F8CA4ED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7685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CA253-7F16-4FB6-9209-342A596A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BA807-D075-480A-A7B9-AD1C3AF5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50505"/>
                </a:solidFill>
              </a:defRPr>
            </a:pPr>
            <a:r>
              <a:rPr sz="1500" b="0" i="0">
                <a:solidFill>
                  <a:srgbClr val="050505"/>
                </a:solidFill>
              </a:rPr>
              <a:t>More motion in the feed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AB6D52-7CC7-4672-A113-78CB1B27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4BF00-3D05-492C-915F-673CA8F6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50505"/>
                </a:solidFill>
              </a:defRPr>
            </a:pPr>
            <a:r>
              <a:rPr sz="1500" b="0" i="0">
                <a:solidFill>
                  <a:srgbClr val="050505"/>
                </a:solidFill>
              </a:rPr>
              <a:t>More hooks around individual items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BACEB-383C-4015-AA4D-DAABA718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EA387-F386-46FD-8D5E-CDD413CF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6255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50505"/>
                </a:solidFill>
              </a:defRPr>
            </a:pPr>
            <a:r>
              <a:rPr sz="1500" b="0" i="0">
                <a:solidFill>
                  <a:srgbClr val="050505"/>
                </a:solidFill>
              </a:rPr>
              <a:t>More trend-led chances to be discovered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91163-59DA-4C04-AA9E-B679CDD0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FA69A"/>
                </a:solidFill>
              </a:defRPr>
            </a:pPr>
            <a:r>
              <a:rPr sz="975" b="0" i="0">
                <a:solidFill>
                  <a:srgbClr val="AFA69A"/>
                </a:solidFill>
              </a:rPr>
              <a:t>Proposal by Ashley Ratau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7B5CE-C0B0-4A07-8DD0-4CC88355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FA69A"/>
                </a:solidFill>
              </a:defRPr>
            </a:pPr>
            <a:r>
              <a:rPr sz="975" b="1" i="0">
                <a:solidFill>
                  <a:srgbClr val="AFA69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9635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3E8715-F1E2-4322-999E-ECF12440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89B3C"/>
                </a:solidFill>
              </a:defRPr>
            </a:pPr>
            <a:r>
              <a:rPr sz="1050" b="1" i="0">
                <a:solidFill>
                  <a:srgbClr val="C89B3C"/>
                </a:solidFill>
              </a:rPr>
              <a:t>PHASE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B1730-4F52-45E7-BEA3-2C1C2811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7F0E6"/>
                </a:solidFill>
              </a:defRPr>
            </a:pPr>
            <a:r>
              <a:rPr sz="3600" b="1" i="0">
                <a:solidFill>
                  <a:srgbClr val="F7F0E6"/>
                </a:solidFill>
              </a:rPr>
              <a:t>Turn the existing catalogue into posting-ready shorts.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460CA-356C-4E1A-BEDF-B321AE8A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8C2A1"/>
                </a:solidFill>
              </a:defRPr>
            </a:pPr>
            <a:r>
              <a:rPr sz="1650" b="0" i="0">
                <a:solidFill>
                  <a:srgbClr val="D8C2A1"/>
                </a:solidFill>
              </a:rPr>
              <a:t>I will start by taking product images Konkhe already has and converting them into short clips for Reels and TikTok.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21D3E-1EDA-46A7-A4BA-95906226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4953000" cy="523875"/>
          </a:xfrm>
          <a:prstGeom xmlns:a="http://schemas.openxmlformats.org/drawingml/2006/main" prst="roundRect">
            <a:avLst>
              <a:gd name="adj" fmla="val 145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90DF7-BBB7-4FA3-90A3-9FDFCB42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004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89B3C"/>
                </a:solidFill>
              </a:defRPr>
            </a:pPr>
            <a:r>
              <a:rPr sz="1425" b="1" i="0">
                <a:solidFill>
                  <a:srgbClr val="C89B3C"/>
                </a:solidFill>
              </a:rPr>
              <a:t>Motion edits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579DC-DEC2-4F0D-B1F9-E58FAF70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909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7F0E6"/>
                </a:solidFill>
              </a:defRPr>
            </a:pPr>
            <a:r>
              <a:rPr sz="1125" b="0" i="0">
                <a:solidFill>
                  <a:srgbClr val="F7F0E6"/>
                </a:solidFill>
              </a:rPr>
              <a:t>Zooms, pans, cuts and text overlays that make static images feel alive.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82817-1B5E-401F-A514-D71A5215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4953000" cy="523875"/>
          </a:xfrm>
          <a:prstGeom xmlns:a="http://schemas.openxmlformats.org/drawingml/2006/main" prst="roundRect">
            <a:avLst>
              <a:gd name="adj" fmla="val 145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48A52-BE09-458D-BE33-1FBD9E8A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00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89B3C"/>
                </a:solidFill>
              </a:defRPr>
            </a:pPr>
            <a:r>
              <a:rPr sz="1425" b="1" i="0">
                <a:solidFill>
                  <a:srgbClr val="C89B3C"/>
                </a:solidFill>
              </a:rPr>
              <a:t>Product spotlights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F332E-8F8F-45C4-BDE2-D76EBF0A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00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7F0E6"/>
                </a:solidFill>
              </a:defRPr>
            </a:pPr>
            <a:r>
              <a:rPr sz="1125" b="0" i="0">
                <a:solidFill>
                  <a:srgbClr val="F7F0E6"/>
                </a:solidFill>
              </a:rPr>
              <a:t>One item at a time: colour, fit, price, size range and shop CTA.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77925-86DC-414F-87FD-8833AEEC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4953000" cy="523875"/>
          </a:xfrm>
          <a:prstGeom xmlns:a="http://schemas.openxmlformats.org/drawingml/2006/main" prst="roundRect">
            <a:avLst>
              <a:gd name="adj" fmla="val 145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65CC3-102C-4152-8C6E-C0AD2C64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96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89B3C"/>
                </a:solidFill>
              </a:defRPr>
            </a:pPr>
            <a:r>
              <a:rPr sz="1425" b="1" i="0">
                <a:solidFill>
                  <a:srgbClr val="C89B3C"/>
                </a:solidFill>
              </a:rPr>
              <a:t>Trend formats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99162-88E5-4D99-9CB8-34625685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101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7F0E6"/>
                </a:solidFill>
              </a:defRPr>
            </a:pPr>
            <a:r>
              <a:rPr sz="1125" b="0" i="0">
                <a:solidFill>
                  <a:srgbClr val="F7F0E6"/>
                </a:solidFill>
              </a:rPr>
              <a:t>Fast adaptations of sounds, captions and visual formats already working on social.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1C001-7147-4914-90CD-484CDD78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4953000" cy="523875"/>
          </a:xfrm>
          <a:prstGeom xmlns:a="http://schemas.openxmlformats.org/drawingml/2006/main" prst="roundRect">
            <a:avLst>
              <a:gd name="adj" fmla="val 145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B0467-1D00-4131-859E-55469E6D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2927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89B3C"/>
                </a:solidFill>
              </a:defRPr>
            </a:pPr>
            <a:r>
              <a:rPr sz="1425" b="1" i="0">
                <a:solidFill>
                  <a:srgbClr val="C89B3C"/>
                </a:solidFill>
              </a:rPr>
              <a:t>Launch packages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29122-8C91-4A7F-8A0F-B0593F9B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619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7F0E6"/>
                </a:solidFill>
              </a:defRPr>
            </a:pPr>
            <a:r>
              <a:rPr sz="1125" b="0" i="0">
                <a:solidFill>
                  <a:srgbClr val="F7F0E6"/>
                </a:solidFill>
              </a:rPr>
              <a:t>Mini batches for drops, sales, restocks and best sellers.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158dd5fc24f84"/>
          <a:srcRect xmlns:a="http://schemas.openxmlformats.org/drawingml/2006/main" l="11702" t="0" r="117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933450"/>
            <a:ext cx="3429000" cy="447675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1EFA9-FB76-4092-B464-A56623A3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33875"/>
            <a:ext cx="4095750" cy="876300"/>
          </a:xfrm>
          <a:prstGeom xmlns:a="http://schemas.openxmlformats.org/drawingml/2006/main" prst="roundRect">
            <a:avLst>
              <a:gd name="adj" fmla="val 8696"/>
            </a:avLst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3FACF-7039-4C01-91D3-3F1304D3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720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Before we film new content, the catalogue can already start working harder.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57C079-258E-447E-8AFF-3D9E37FA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FA69A"/>
                </a:solidFill>
              </a:defRPr>
            </a:pPr>
            <a:r>
              <a:rPr sz="975" b="0" i="0">
                <a:solidFill>
                  <a:srgbClr val="AFA69A"/>
                </a:solidFill>
              </a:rPr>
              <a:t>Proposal by Ashley Ratau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FE1D7F-2DDF-4C0D-B287-7DEEC0DE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FA69A"/>
                </a:solidFill>
              </a:defRPr>
            </a:pPr>
            <a:r>
              <a:rPr sz="975" b="1" i="0">
                <a:solidFill>
                  <a:srgbClr val="AFA69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1307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994C12-B9E8-495D-8E6D-07120C67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3A1D"/>
                </a:solidFill>
              </a:defRPr>
            </a:pPr>
            <a:r>
              <a:rPr sz="1350" b="1" i="0">
                <a:solidFill>
                  <a:srgbClr val="5B3A1D"/>
                </a:solidFill>
              </a:rPr>
              <a:t>Phase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F37D4-AA1D-4D69-A134-A496F3D8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676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50505"/>
                </a:solidFill>
              </a:defRPr>
            </a:pPr>
            <a:r>
              <a:rPr sz="3225" b="1" i="0">
                <a:solidFill>
                  <a:srgbClr val="050505"/>
                </a:solidFill>
              </a:rPr>
              <a:t>Monthly store content days</a:t>
            </a:r>
          </a:p>
          <a:p xmlns:a="http://schemas.openxmlformats.org/drawingml/2006/main">
            <a:pPr algn="l">
              <a:defRPr sz="3225" b="1" i="0">
                <a:solidFill>
                  <a:srgbClr val="050505"/>
                </a:solidFill>
              </a:defRPr>
            </a:pPr>
            <a:r>
              <a:rPr sz="3225" b="1" i="0">
                <a:solidFill>
                  <a:srgbClr val="050505"/>
                </a:solidFill>
              </a:rPr>
              <a:t>create a fresh video bank.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C30F1-99B8-4964-B05D-50843042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B3A1D"/>
                </a:solidFill>
              </a:defRPr>
            </a:pPr>
            <a:r>
              <a:rPr sz="1575" b="0" i="0">
                <a:solidFill>
                  <a:srgbClr val="5B3A1D"/>
                </a:solidFill>
              </a:rPr>
              <a:t>Once or twice a month, I will come to one of the stores and capture enough video content to be edited into short clips posted throughout the week.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0bdddd2ac4375"/>
          <a:srcRect xmlns:a="http://schemas.openxmlformats.org/drawingml/2006/main" l="24219" t="0" r="242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571500"/>
            <a:ext cx="3143250" cy="257175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bb203f0424de7"/>
          <a:srcRect xmlns:a="http://schemas.openxmlformats.org/drawingml/2006/main" l="3659" t="0" r="36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7125" y="3409950"/>
            <a:ext cx="1809750" cy="1952625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5d2f2b6a14c74"/>
          <a:srcRect xmlns:a="http://schemas.openxmlformats.org/drawingml/2006/main" l="0" t="9024" r="0" b="90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86900" y="3676650"/>
            <a:ext cx="1952625" cy="16002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1800B-738A-40C2-AF61-A974AAE2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581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6D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E0943-C44B-4E1E-8CDF-C24CB52E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521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50505"/>
                </a:solidFill>
              </a:defRPr>
            </a:pPr>
            <a:r>
              <a:rPr sz="1350" b="1" i="0">
                <a:solidFill>
                  <a:srgbClr val="050505"/>
                </a:solidFill>
              </a:rPr>
              <a:t>Try-on clips and outfit combinations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B924C-5ED7-42FC-8209-C0BD0E2C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81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FE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B0FCF-9CB8-4B0E-9CA6-F440714A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521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50505"/>
                </a:solidFill>
              </a:defRPr>
            </a:pPr>
            <a:r>
              <a:rPr sz="1350" b="1" i="0">
                <a:solidFill>
                  <a:srgbClr val="050505"/>
                </a:solidFill>
              </a:rPr>
              <a:t>Close-ups of stitching, logos and textures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64A41C-C81F-4835-B2B6-6D120E35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581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6D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9AD73-2525-4283-8BFB-93D87513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91100"/>
            <a:ext cx="521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50505"/>
                </a:solidFill>
              </a:defRPr>
            </a:pPr>
            <a:r>
              <a:rPr sz="1350" b="1" i="0">
                <a:solidFill>
                  <a:srgbClr val="050505"/>
                </a:solidFill>
              </a:rPr>
              <a:t>Shelf, rack and store walk-through shots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5E0B6-2F68-4341-89B4-6E63ED1D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581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FE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E7649-97EA-43A0-B9E4-3800FA18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521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50505"/>
                </a:solidFill>
              </a:defRPr>
            </a:pPr>
            <a:r>
              <a:rPr sz="1350" b="1" i="0">
                <a:solidFill>
                  <a:srgbClr val="050505"/>
                </a:solidFill>
              </a:rPr>
              <a:t>Drop announcements, restocks and sale hooks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06D84-E78F-4056-B660-17A1053B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581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6D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98E47-7231-4060-B97E-B1921955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67400"/>
            <a:ext cx="521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50505"/>
                </a:solidFill>
              </a:defRPr>
            </a:pPr>
            <a:r>
              <a:rPr sz="1350" b="1" i="0">
                <a:solidFill>
                  <a:srgbClr val="050505"/>
                </a:solidFill>
              </a:rPr>
              <a:t>Quick staff-led recommendations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7B69D-F0F4-4371-9C80-71B9C618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FA69A"/>
                </a:solidFill>
              </a:defRPr>
            </a:pPr>
            <a:r>
              <a:rPr sz="975" b="0" i="0">
                <a:solidFill>
                  <a:srgbClr val="AFA69A"/>
                </a:solidFill>
              </a:rPr>
              <a:t>Proposal by Ashley Ratau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055556-8648-4780-B6A8-1AE0BDCD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FA69A"/>
                </a:solidFill>
              </a:defRPr>
            </a:pPr>
            <a:r>
              <a:rPr sz="975" b="1" i="0">
                <a:solidFill>
                  <a:srgbClr val="AFA69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1691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06D8A8-7AA1-4520-BCA0-8C5C6C04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89B3C"/>
                </a:solidFill>
              </a:defRPr>
            </a:pPr>
            <a:r>
              <a:rPr sz="1050" b="1" i="0">
                <a:solidFill>
                  <a:srgbClr val="C89B3C"/>
                </a:solidFill>
              </a:rPr>
              <a:t>CONTENT RHYTHM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474E6-AB82-4338-B232-B8DA80EA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7F0E6"/>
                </a:solidFill>
              </a:defRPr>
            </a:pPr>
            <a:r>
              <a:rPr sz="3600" b="1" i="0">
                <a:solidFill>
                  <a:srgbClr val="F7F0E6"/>
                </a:solidFill>
              </a:rPr>
              <a:t>A weekly posting system, not random uploads.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7931D-AA3E-440B-B810-5FB25000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8C2A1"/>
                </a:solidFill>
              </a:defRPr>
            </a:pPr>
            <a:r>
              <a:rPr sz="1650" b="0" i="0">
                <a:solidFill>
                  <a:srgbClr val="D8C2A1"/>
                </a:solidFill>
              </a:rPr>
              <a:t>The goal is to build a repeatable flow: film in batches, edit into short clips, then post consistently across Instagram, Facebook and TikTok.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A3036-D220-4D39-93D6-47972995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638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1A10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01518-8846-4247-9F4C-74CC96E3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9B3C"/>
                </a:solidFill>
              </a:defRPr>
            </a:pPr>
            <a:r>
              <a:rPr sz="1800" b="1" i="0">
                <a:solidFill>
                  <a:srgbClr val="C89B3C"/>
                </a:solidFill>
              </a:rPr>
              <a:t>Mon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B3E46-F88D-4601-BDA1-C0A3F7B4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0532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7F0E6"/>
                </a:solidFill>
              </a:defRPr>
            </a:pPr>
            <a:r>
              <a:rPr sz="1425" b="1" i="0">
                <a:solidFill>
                  <a:srgbClr val="F7F0E6"/>
                </a:solidFill>
              </a:rPr>
              <a:t>Item spotlight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05C6F-5A5E-44BB-81BD-9980CB39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05250"/>
            <a:ext cx="1638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06D23-276F-40A4-9452-D71A4226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767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9B3C"/>
                </a:solidFill>
              </a:defRPr>
            </a:pPr>
            <a:r>
              <a:rPr sz="1800" b="1" i="0">
                <a:solidFill>
                  <a:srgbClr val="C89B3C"/>
                </a:solidFill>
              </a:rPr>
              <a:t>Tue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5783B-3E20-452E-87B7-034DA0D9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0532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7F0E6"/>
                </a:solidFill>
              </a:defRPr>
            </a:pPr>
            <a:r>
              <a:rPr sz="1425" b="1" i="0">
                <a:solidFill>
                  <a:srgbClr val="F7F0E6"/>
                </a:solidFill>
              </a:rPr>
              <a:t>Trend / sound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C573F-B73D-44E9-923B-E592143D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05250"/>
            <a:ext cx="1638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1A10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B8E80-8030-4A95-8080-C5F848B9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767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9B3C"/>
                </a:solidFill>
              </a:defRPr>
            </a:pPr>
            <a:r>
              <a:rPr sz="1800" b="1" i="0">
                <a:solidFill>
                  <a:srgbClr val="C89B3C"/>
                </a:solidFill>
              </a:rPr>
              <a:t>Wed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584E0-70E8-4ECC-994B-622A146E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0532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7F0E6"/>
                </a:solidFill>
              </a:defRPr>
            </a:pPr>
            <a:r>
              <a:rPr sz="1425" b="1" i="0">
                <a:solidFill>
                  <a:srgbClr val="F7F0E6"/>
                </a:solidFill>
              </a:rPr>
              <a:t>Outfit combo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7E867-0CD6-46EF-A45B-4178DEF5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05250"/>
            <a:ext cx="1638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B6087-F4E6-4948-A6FE-BFF734D1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767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9B3C"/>
                </a:solidFill>
              </a:defRPr>
            </a:pPr>
            <a:r>
              <a:rPr sz="1800" b="1" i="0">
                <a:solidFill>
                  <a:srgbClr val="C89B3C"/>
                </a:solidFill>
              </a:rPr>
              <a:t>Thu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E090B-A8D1-4923-9A7F-066F4982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0532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7F0E6"/>
                </a:solidFill>
              </a:defRPr>
            </a:pPr>
            <a:r>
              <a:rPr sz="1425" b="1" i="0">
                <a:solidFill>
                  <a:srgbClr val="F7F0E6"/>
                </a:solidFill>
              </a:rPr>
              <a:t>Detail close-up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E7F93-0C78-4C2D-AEF8-B8946DD5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05250"/>
            <a:ext cx="1638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1A10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119D3-DEA5-45C2-8080-B8B62A36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767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9B3C"/>
                </a:solidFill>
              </a:defRPr>
            </a:pPr>
            <a:r>
              <a:rPr sz="1800" b="1" i="0">
                <a:solidFill>
                  <a:srgbClr val="C89B3C"/>
                </a:solidFill>
              </a:rPr>
              <a:t>Fri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EF835-91E5-4F86-9117-CA0C7E49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0532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7F0E6"/>
                </a:solidFill>
              </a:defRPr>
            </a:pPr>
            <a:r>
              <a:rPr sz="1425" b="1" i="0">
                <a:solidFill>
                  <a:srgbClr val="F7F0E6"/>
                </a:solidFill>
              </a:rPr>
              <a:t>Drop or sale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EBF5B-FF97-4D6A-809D-B20292D0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05250"/>
            <a:ext cx="1638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0FEA7-85F0-40B0-BA3C-9DDB34F2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767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9B3C"/>
                </a:solidFill>
              </a:defRPr>
            </a:pPr>
            <a:r>
              <a:rPr sz="1800" b="1" i="0">
                <a:solidFill>
                  <a:srgbClr val="C89B3C"/>
                </a:solidFill>
              </a:rPr>
              <a:t>Weekend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497B3D-67FC-4DDD-B110-6C28B8D3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0532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7F0E6"/>
                </a:solidFill>
              </a:defRPr>
            </a:pPr>
            <a:r>
              <a:rPr sz="1425" b="1" i="0">
                <a:solidFill>
                  <a:srgbClr val="F7F0E6"/>
                </a:solidFill>
              </a:rPr>
              <a:t>Store vibe / recap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02144-E447-4BC5-9D88-9822D6C4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81650"/>
            <a:ext cx="975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D8C2A1"/>
                </a:solidFill>
              </a:defRPr>
            </a:pPr>
            <a:r>
              <a:rPr sz="1500" b="0" i="0">
                <a:solidFill>
                  <a:srgbClr val="D8C2A1"/>
                </a:solidFill>
              </a:rPr>
              <a:t>Each batch can be cut into multiple versions: 9:16 vertical video, caption-first versions, TikTok-style hooks, and product-specific calls to action.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D249B4-81FF-4C9C-8CDF-E99E722E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FA69A"/>
                </a:solidFill>
              </a:defRPr>
            </a:pPr>
            <a:r>
              <a:rPr sz="975" b="0" i="0">
                <a:solidFill>
                  <a:srgbClr val="AFA69A"/>
                </a:solidFill>
              </a:rPr>
              <a:t>Proposal by Ashley Ratau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5B3BC9-72B4-444A-A7E1-1C63617A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FA69A"/>
                </a:solidFill>
              </a:defRPr>
            </a:pPr>
            <a:r>
              <a:rPr sz="975" b="1" i="0">
                <a:solidFill>
                  <a:srgbClr val="AFA69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7081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ED8EC7-B7E2-43FD-A303-A780A9AB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3A1D"/>
                </a:solidFill>
              </a:defRPr>
            </a:pPr>
            <a:r>
              <a:rPr sz="1350" b="1" i="0">
                <a:solidFill>
                  <a:srgbClr val="5B3A1D"/>
                </a:solidFill>
              </a:rPr>
              <a:t>What I will bring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3442A-0A05-4611-9320-CD7B9E26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04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50505"/>
                </a:solidFill>
              </a:defRPr>
            </a:pPr>
            <a:r>
              <a:rPr sz="3450" b="1" i="0">
                <a:solidFill>
                  <a:srgbClr val="050505"/>
                </a:solidFill>
              </a:rPr>
              <a:t>Video skills turned into a simple growth service.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D99D9-4E92-41A8-9FDD-C2661AAD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08618-011A-4366-BB94-BEB8091F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24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89B3C"/>
                </a:solidFill>
              </a:defRPr>
            </a:pPr>
            <a:r>
              <a:rPr sz="1650" b="1" i="0">
                <a:solidFill>
                  <a:srgbClr val="C89B3C"/>
                </a:solidFill>
              </a:rPr>
              <a:t>Creative 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86C81-C9C3-433B-A72C-A88F9B36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9925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7F0E6"/>
                </a:solidFill>
              </a:defRPr>
            </a:pPr>
            <a:r>
              <a:rPr sz="1125" b="0" i="0">
                <a:solidFill>
                  <a:srgbClr val="F7F0E6"/>
                </a:solidFill>
              </a:rPr>
              <a:t>Short ideas, hooks, captions and trend selection.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42061-A2DD-433E-9AED-E64A0396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DCE40-A751-467E-880C-9F7AFA13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24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89B3C"/>
                </a:solidFill>
              </a:defRPr>
            </a:pPr>
            <a:r>
              <a:rPr sz="1650" b="1" i="0">
                <a:solidFill>
                  <a:srgbClr val="C89B3C"/>
                </a:solidFill>
              </a:rPr>
              <a:t>Filming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B75C5-6849-403D-9818-E05E7CF5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09925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7F0E6"/>
                </a:solidFill>
              </a:defRPr>
            </a:pPr>
            <a:r>
              <a:rPr sz="1125" b="0" i="0">
                <a:solidFill>
                  <a:srgbClr val="F7F0E6"/>
                </a:solidFill>
              </a:rPr>
              <a:t>Store visits once or twice a month to capture bulk content.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07D8D-9B6C-4B02-876C-BA7980A1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8159E-CFAA-433E-B153-2669F2C6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89B3C"/>
                </a:solidFill>
              </a:defRPr>
            </a:pPr>
            <a:r>
              <a:rPr sz="1650" b="1" i="0">
                <a:solidFill>
                  <a:srgbClr val="C89B3C"/>
                </a:solidFill>
              </a:rPr>
              <a:t>Editing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D888E-BB68-46E6-A7AF-58A74D3F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38625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7F0E6"/>
                </a:solidFill>
              </a:defRPr>
            </a:pPr>
            <a:r>
              <a:rPr sz="1125" b="0" i="0">
                <a:solidFill>
                  <a:srgbClr val="F7F0E6"/>
                </a:solidFill>
              </a:rPr>
              <a:t>Fast cuts, captions, transitions, product text and music-ready versions.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17ED67-E5E9-4EC8-93EA-65750BA1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581A5-40B0-4FE7-A0E3-899A5CEC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528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89B3C"/>
                </a:solidFill>
              </a:defRPr>
            </a:pPr>
            <a:r>
              <a:rPr sz="1650" b="1" i="0">
                <a:solidFill>
                  <a:srgbClr val="C89B3C"/>
                </a:solidFill>
              </a:rPr>
              <a:t>Posting pack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2695F-1B25-431B-9C9B-E14C88F8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38625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7F0E6"/>
                </a:solidFill>
              </a:defRPr>
            </a:pPr>
            <a:r>
              <a:rPr sz="1125" b="0" i="0">
                <a:solidFill>
                  <a:srgbClr val="F7F0E6"/>
                </a:solidFill>
              </a:rPr>
              <a:t>Files prepared for Instagram/Facebook Reels and TikTok Shorts.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D21EA-CC7F-4570-A659-1C7311B3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16B98-D6C6-4106-968F-D1432C8A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815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89B3C"/>
                </a:solidFill>
              </a:defRPr>
            </a:pPr>
            <a:r>
              <a:rPr sz="1650" b="1" i="0">
                <a:solidFill>
                  <a:srgbClr val="C89B3C"/>
                </a:solidFill>
              </a:rPr>
              <a:t>Learning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7799DC-A8CB-4716-9ABE-73700E00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7F0E6"/>
                </a:solidFill>
              </a:defRPr>
            </a:pPr>
            <a:r>
              <a:rPr sz="1125" b="0" i="0">
                <a:solidFill>
                  <a:srgbClr val="F7F0E6"/>
                </a:solidFill>
              </a:rPr>
              <a:t>Monthly review of what performs best, then improve the next batch.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A79743-D488-461D-8EE0-0CD51FD6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86450"/>
            <a:ext cx="4191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9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DF578-08D1-49A1-8D99-0608901F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953125"/>
            <a:ext cx="3886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50505"/>
                </a:solidFill>
              </a:defRPr>
            </a:pPr>
            <a:r>
              <a:rPr sz="975" b="1" i="0">
                <a:solidFill>
                  <a:srgbClr val="050505"/>
                </a:solidFill>
              </a:rPr>
              <a:t>Built for consistent weekly visibility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853679-849C-4E20-8A25-CC476731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FA69A"/>
                </a:solidFill>
              </a:defRPr>
            </a:pPr>
            <a:r>
              <a:rPr sz="975" b="0" i="0">
                <a:solidFill>
                  <a:srgbClr val="AFA69A"/>
                </a:solidFill>
              </a:rPr>
              <a:t>Proposal by Ashley Ratau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8BC7EF-9E01-43B0-BC26-32C81475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FA69A"/>
                </a:solidFill>
              </a:defRPr>
            </a:pPr>
            <a:r>
              <a:rPr sz="975" b="1" i="0">
                <a:solidFill>
                  <a:srgbClr val="AFA69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18958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5AA2E5-41EE-4372-A023-32E4BFB4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89B3C"/>
                </a:solidFill>
              </a:defRPr>
            </a:pPr>
            <a:r>
              <a:rPr sz="1050" b="1" i="0">
                <a:solidFill>
                  <a:srgbClr val="C89B3C"/>
                </a:solidFill>
              </a:rPr>
              <a:t>THE FUNNEL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03C39-E38A-4EDE-A433-D75B1912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7F0E6"/>
                </a:solidFill>
              </a:defRPr>
            </a:pPr>
            <a:r>
              <a:rPr sz="3600" b="1" i="0">
                <a:solidFill>
                  <a:srgbClr val="F7F0E6"/>
                </a:solidFill>
              </a:rPr>
              <a:t>Short clips should drive traffic back to the online store.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58A20-B864-413D-8E19-1FA71A4B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8C2A1"/>
                </a:solidFill>
              </a:defRPr>
            </a:pPr>
            <a:r>
              <a:rPr sz="1650" b="0" i="0">
                <a:solidFill>
                  <a:srgbClr val="D8C2A1"/>
                </a:solidFill>
              </a:rPr>
              <a:t>Every video has a job: stop the scroll, create interest in one item, move the viewer to the profile or link, and bring them closer to buying.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41D51-F632-4BF6-BD7A-191BCC08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C89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73EB2-3300-4536-B006-6B718EB9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6717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50505"/>
                </a:solidFill>
              </a:defRPr>
            </a:pPr>
            <a:r>
              <a:rPr sz="1500" b="1" i="0">
                <a:solidFill>
                  <a:srgbClr val="050505"/>
                </a:solidFill>
              </a:rPr>
              <a:t>Short clips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68CCB-A375-445A-94A6-3B3594E4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481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B3A1D"/>
                </a:solidFill>
              </a:defRPr>
            </a:pPr>
            <a:r>
              <a:rPr sz="975" b="1" i="0">
                <a:solidFill>
                  <a:srgbClr val="5B3A1D"/>
                </a:solidFill>
              </a:rPr>
              <a:t>Reels + TikTok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43788-0508-4087-A47A-58AD4BA6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191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C89B3C"/>
                </a:solidFill>
              </a:defRPr>
            </a:pPr>
            <a:r>
              <a:rPr sz="2550" b="1" i="0">
                <a:solidFill>
                  <a:srgbClr val="C89B3C"/>
                </a:solidFill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5067D-F23F-42C4-9D96-20A6F000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57625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9B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31535-7AF6-4BD7-89BA-53F2A718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6717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50505"/>
                </a:solidFill>
              </a:defRPr>
            </a:pPr>
            <a:r>
              <a:rPr sz="1500" b="1" i="0">
                <a:solidFill>
                  <a:srgbClr val="050505"/>
                </a:solidFill>
              </a:rPr>
              <a:t>Attention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722F6-29B0-40FC-B942-B97A4E99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481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B3A1D"/>
                </a:solidFill>
              </a:defRPr>
            </a:pPr>
            <a:r>
              <a:rPr sz="975" b="1" i="0">
                <a:solidFill>
                  <a:srgbClr val="5B3A1D"/>
                </a:solidFill>
              </a:rPr>
              <a:t>Views + saves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C7247-3785-418A-8C63-F718B700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91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C89B3C"/>
                </a:solidFill>
              </a:defRPr>
            </a:pPr>
            <a:r>
              <a:rPr sz="2550" b="1" i="0">
                <a:solidFill>
                  <a:srgbClr val="C89B3C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4B374F-95FA-44CE-B1D9-9DE94252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57625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7CD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520F3-6CB5-46EB-B5E6-1453BB82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6717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50505"/>
                </a:solidFill>
              </a:defRPr>
            </a:pPr>
            <a:r>
              <a:rPr sz="1500" b="1" i="0">
                <a:solidFill>
                  <a:srgbClr val="050505"/>
                </a:solidFill>
              </a:rPr>
              <a:t>Profile visits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0C42B-17B0-4CCD-9138-8AEB8D0E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481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B3A1D"/>
                </a:solidFill>
              </a:defRPr>
            </a:pPr>
            <a:r>
              <a:rPr sz="975" b="1" i="0">
                <a:solidFill>
                  <a:srgbClr val="5B3A1D"/>
                </a:solidFill>
              </a:rPr>
              <a:t>Trust + curiosity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E5E59-E02D-4EA0-9EA2-85FE26C7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191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C89B3C"/>
                </a:solidFill>
              </a:defRPr>
            </a:pPr>
            <a:r>
              <a:rPr sz="2550" b="1" i="0">
                <a:solidFill>
                  <a:srgbClr val="C89B3C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5A65D-42AE-456C-8F28-065AA79B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57625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D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916C94-A33D-470E-9BF5-1364C058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6717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50505"/>
                </a:solidFill>
              </a:defRPr>
            </a:pPr>
            <a:r>
              <a:rPr sz="1500" b="1" i="0">
                <a:solidFill>
                  <a:srgbClr val="050505"/>
                </a:solidFill>
              </a:rPr>
              <a:t>Online store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804A72-9B4F-4F28-BD1C-BD4B5AAF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48175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B3A1D"/>
                </a:solidFill>
              </a:defRPr>
            </a:pPr>
            <a:r>
              <a:rPr sz="975" b="1" i="0">
                <a:solidFill>
                  <a:srgbClr val="5B3A1D"/>
                </a:solidFill>
              </a:rPr>
              <a:t>Product page traffic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D1BE0-BCBC-46C5-B90B-25959C8F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191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C89B3C"/>
                </a:solidFill>
              </a:defRPr>
            </a:pPr>
            <a:r>
              <a:rPr sz="2550" b="1" i="0">
                <a:solidFill>
                  <a:srgbClr val="C89B3C"/>
                </a:solidFill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01E46E-7B83-4E3B-9C70-A871CDA5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57625"/>
            <a:ext cx="21526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70680-9434-4C8B-A2F9-3CEF03A2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67175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50505"/>
                </a:solidFill>
              </a:defRPr>
            </a:pPr>
            <a:r>
              <a:rPr sz="1350" b="1" i="0">
                <a:solidFill>
                  <a:srgbClr val="050505"/>
                </a:solidFill>
              </a:rPr>
              <a:t>Sales + repeat interest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9BE512-FC95-48F4-8E7F-7E01764E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48175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B3A1D"/>
                </a:solidFill>
              </a:defRPr>
            </a:pPr>
            <a:r>
              <a:rPr sz="975" b="1" i="0">
                <a:solidFill>
                  <a:srgbClr val="5B3A1D"/>
                </a:solidFill>
              </a:rPr>
              <a:t>Checkout, retargeting, community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686A04-AB45-42D2-BE6E-00494DB1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53050"/>
            <a:ext cx="8839200" cy="4572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74C8BC-E0C7-4355-AB38-F3D3BF23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76875"/>
            <a:ext cx="849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7F0E6"/>
                </a:solidFill>
              </a:defRPr>
            </a:pPr>
            <a:r>
              <a:rPr sz="1350" b="1" i="0">
                <a:solidFill>
                  <a:srgbClr val="F7F0E6"/>
                </a:solidFill>
              </a:rPr>
              <a:t>More short-form content -&gt; more discovery -&gt; more store traffic -&gt; stronger chance of sales.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D40E5C-9D69-4F51-A075-070EEE83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FA69A"/>
                </a:solidFill>
              </a:defRPr>
            </a:pPr>
            <a:r>
              <a:rPr sz="975" b="0" i="0">
                <a:solidFill>
                  <a:srgbClr val="AFA69A"/>
                </a:solidFill>
              </a:rPr>
              <a:t>Proposal by Ashley Ratau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56BC9E-5732-42D5-B866-57F0A426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AFA69A"/>
                </a:solidFill>
              </a:defRPr>
            </a:pPr>
            <a:r>
              <a:rPr sz="975" b="1" i="0">
                <a:solidFill>
                  <a:srgbClr val="AFA69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96728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2026-06-26T11:04:49.8080000Z</dcterms:created>
  <dcterms:modified xsi:type="dcterms:W3CDTF">2026-06-26T11:04:49.8090000Z</dcterms:modified>
</coreProperties>
</file>